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9" r:id="rId1"/>
  </p:sldMasterIdLst>
  <p:sldIdLst>
    <p:sldId id="257" r:id="rId2"/>
    <p:sldId id="259" r:id="rId3"/>
    <p:sldId id="263" r:id="rId4"/>
    <p:sldId id="260" r:id="rId5"/>
    <p:sldId id="261" r:id="rId6"/>
    <p:sldId id="265" r:id="rId7"/>
    <p:sldId id="266" r:id="rId8"/>
    <p:sldId id="262" r:id="rId9"/>
    <p:sldId id="26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24529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3298692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194735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7FD56F-65C3-4620-BB3B-A18AE3FF95F5}"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2733225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17FD56F-65C3-4620-BB3B-A18AE3FF95F5}" type="datetimeFigureOut">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2388291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7FD56F-65C3-4620-BB3B-A18AE3FF95F5}" type="datetimeFigureOut">
              <a:rPr lang="en-US" smtClean="0"/>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400679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FD56F-65C3-4620-BB3B-A18AE3FF95F5}" type="datetimeFigureOut">
              <a:rPr lang="en-US" smtClean="0"/>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2994904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7FD56F-65C3-4620-BB3B-A18AE3FF95F5}"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1985001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7FD56F-65C3-4620-BB3B-A18AE3FF95F5}"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3001830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382346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01303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1165200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249662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1477437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1889813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7FD56F-65C3-4620-BB3B-A18AE3FF95F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894F-C668-4737-A6D2-55690DF832F8}" type="slidenum">
              <a:rPr lang="en-US" smtClean="0"/>
              <a:t>‹#›</a:t>
            </a:fld>
            <a:endParaRPr lang="en-US"/>
          </a:p>
        </p:txBody>
      </p:sp>
    </p:spTree>
    <p:extLst>
      <p:ext uri="{BB962C8B-B14F-4D97-AF65-F5344CB8AC3E}">
        <p14:creationId xmlns:p14="http://schemas.microsoft.com/office/powerpoint/2010/main" val="2363701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17FD56F-65C3-4620-BB3B-A18AE3FF95F5}" type="datetimeFigureOut">
              <a:rPr lang="en-US" smtClean="0"/>
              <a:t>3/29/2026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A95894F-C668-4737-A6D2-55690DF832F8}" type="slidenum">
              <a:rPr lang="en-US" smtClean="0"/>
              <a:t>‹#›</a:t>
            </a:fld>
            <a:endParaRPr lang="en-US"/>
          </a:p>
        </p:txBody>
      </p:sp>
    </p:spTree>
    <p:extLst>
      <p:ext uri="{BB962C8B-B14F-4D97-AF65-F5344CB8AC3E}">
        <p14:creationId xmlns:p14="http://schemas.microsoft.com/office/powerpoint/2010/main" val="758274986"/>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 id="2147483931" r:id="rId12"/>
    <p:sldLayoutId id="2147483932" r:id="rId13"/>
    <p:sldLayoutId id="2147483933" r:id="rId14"/>
    <p:sldLayoutId id="2147483934" r:id="rId15"/>
    <p:sldLayoutId id="214748393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leelamadhavi0211/Reel2MovieProject-Batch04.git"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2920D7E-EDB6-AB27-D83E-B91BF6B5C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030" y="123265"/>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57275AA-1B29-0C0F-A798-CBF7B9425943}"/>
              </a:ext>
            </a:extLst>
          </p:cNvPr>
          <p:cNvSpPr txBox="1"/>
          <p:nvPr/>
        </p:nvSpPr>
        <p:spPr>
          <a:xfrm>
            <a:off x="3724835" y="531159"/>
            <a:ext cx="5481918" cy="769441"/>
          </a:xfrm>
          <a:prstGeom prst="rect">
            <a:avLst/>
          </a:prstGeom>
          <a:noFill/>
        </p:spPr>
        <p:txBody>
          <a:bodyPr wrap="square" rtlCol="0">
            <a:spAutoFit/>
          </a:bodyPr>
          <a:lstStyle/>
          <a:p>
            <a:pPr algn="ctr"/>
            <a:r>
              <a:rPr lang="en-US" sz="4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E2E</a:t>
            </a:r>
            <a:r>
              <a:rPr lang="en-US" sz="4400" dirty="0">
                <a:latin typeface="Times New Roman" panose="02020603050405020304" pitchFamily="18" charset="0"/>
                <a:cs typeface="Times New Roman" panose="02020603050405020304" pitchFamily="18" charset="0"/>
              </a:rPr>
              <a:t> PROJECT</a:t>
            </a:r>
          </a:p>
        </p:txBody>
      </p:sp>
      <p:sp>
        <p:nvSpPr>
          <p:cNvPr id="3" name="TextBox 2">
            <a:extLst>
              <a:ext uri="{FF2B5EF4-FFF2-40B4-BE49-F238E27FC236}">
                <a16:creationId xmlns:a16="http://schemas.microsoft.com/office/drawing/2014/main" id="{5D35B3CF-ABC2-C22D-B2B4-96DF379B17DB}"/>
              </a:ext>
            </a:extLst>
          </p:cNvPr>
          <p:cNvSpPr txBox="1"/>
          <p:nvPr/>
        </p:nvSpPr>
        <p:spPr>
          <a:xfrm>
            <a:off x="887506" y="2191434"/>
            <a:ext cx="10408023" cy="1289071"/>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Title of Project</a:t>
            </a:r>
          </a:p>
          <a:p>
            <a:pPr>
              <a:lnSpc>
                <a:spcPct val="150000"/>
              </a:lnSpc>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Reel2MovieName: Multimodal Movie Identification from Short Video Clips</a:t>
            </a:r>
          </a:p>
          <a:p>
            <a:pPr>
              <a:lnSpc>
                <a:spcPct val="150000"/>
              </a:lnSpc>
            </a:pPr>
            <a:r>
              <a:rPr lang="en-US" b="1" dirty="0">
                <a:latin typeface="Times New Roman" panose="02020603050405020304" pitchFamily="18" charset="0"/>
                <a:cs typeface="Times New Roman" panose="02020603050405020304" pitchFamily="18" charset="0"/>
              </a:rPr>
              <a:t>Team Guide: </a:t>
            </a:r>
            <a:r>
              <a:rPr lang="en-US" dirty="0">
                <a:latin typeface="Times New Roman" panose="02020603050405020304" pitchFamily="18" charset="0"/>
                <a:cs typeface="Times New Roman" panose="02020603050405020304" pitchFamily="18" charset="0"/>
              </a:rPr>
              <a:t>Dr. N. Srihari Sir </a:t>
            </a:r>
          </a:p>
        </p:txBody>
      </p:sp>
      <p:graphicFrame>
        <p:nvGraphicFramePr>
          <p:cNvPr id="4" name="Table 3">
            <a:extLst>
              <a:ext uri="{FF2B5EF4-FFF2-40B4-BE49-F238E27FC236}">
                <a16:creationId xmlns:a16="http://schemas.microsoft.com/office/drawing/2014/main" id="{E0CE52D9-861C-67BF-0DF2-7B761B8013C6}"/>
              </a:ext>
            </a:extLst>
          </p:cNvPr>
          <p:cNvGraphicFramePr>
            <a:graphicFrameLocks noGrp="1"/>
          </p:cNvGraphicFramePr>
          <p:nvPr>
            <p:extLst>
              <p:ext uri="{D42A27DB-BD31-4B8C-83A1-F6EECF244321}">
                <p14:modId xmlns:p14="http://schemas.microsoft.com/office/powerpoint/2010/main" val="1930109041"/>
              </p:ext>
            </p:extLst>
          </p:nvPr>
        </p:nvGraphicFramePr>
        <p:xfrm>
          <a:off x="1078754" y="4293375"/>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54794480"/>
                    </a:ext>
                  </a:extLst>
                </a:gridCol>
                <a:gridCol w="2709333">
                  <a:extLst>
                    <a:ext uri="{9D8B030D-6E8A-4147-A177-3AD203B41FA5}">
                      <a16:colId xmlns:a16="http://schemas.microsoft.com/office/drawing/2014/main" val="2787472754"/>
                    </a:ext>
                  </a:extLst>
                </a:gridCol>
                <a:gridCol w="2709333">
                  <a:extLst>
                    <a:ext uri="{9D8B030D-6E8A-4147-A177-3AD203B41FA5}">
                      <a16:colId xmlns:a16="http://schemas.microsoft.com/office/drawing/2014/main" val="3658347375"/>
                    </a:ext>
                  </a:extLst>
                </a:gridCol>
              </a:tblGrid>
              <a:tr h="370840">
                <a:tc>
                  <a:txBody>
                    <a:bodyPr/>
                    <a:lstStyle/>
                    <a:p>
                      <a:r>
                        <a:rPr lang="en-US" sz="1600" dirty="0" err="1">
                          <a:latin typeface="Times New Roman" panose="02020603050405020304" pitchFamily="18" charset="0"/>
                          <a:cs typeface="Times New Roman" panose="02020603050405020304" pitchFamily="18" charset="0"/>
                        </a:rPr>
                        <a:t>S.No</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Roll Number </a:t>
                      </a:r>
                    </a:p>
                  </a:txBody>
                  <a:tcPr/>
                </a:tc>
                <a:tc>
                  <a:txBody>
                    <a:bodyPr/>
                    <a:lstStyle/>
                    <a:p>
                      <a:r>
                        <a:rPr lang="en-US" sz="1600" b="1" dirty="0">
                          <a:latin typeface="Times New Roman" panose="02020603050405020304" pitchFamily="18" charset="0"/>
                          <a:cs typeface="Times New Roman" panose="02020603050405020304" pitchFamily="18" charset="0"/>
                        </a:rPr>
                        <a:t>Name</a:t>
                      </a:r>
                    </a:p>
                  </a:txBody>
                  <a:tcPr/>
                </a:tc>
                <a:extLst>
                  <a:ext uri="{0D108BD9-81ED-4DB2-BD59-A6C34878D82A}">
                    <a16:rowId xmlns:a16="http://schemas.microsoft.com/office/drawing/2014/main" val="1902693802"/>
                  </a:ext>
                </a:extLst>
              </a:tr>
              <a:tr h="370840">
                <a:tc>
                  <a:txBody>
                    <a:bodyPr/>
                    <a:lstStyle/>
                    <a:p>
                      <a:r>
                        <a:rPr lang="en-US" b="0" dirty="0">
                          <a:latin typeface="Times New Roman" panose="02020603050405020304" pitchFamily="18" charset="0"/>
                          <a:cs typeface="Times New Roman" panose="02020603050405020304" pitchFamily="18" charset="0"/>
                        </a:rPr>
                        <a:t>1. </a:t>
                      </a:r>
                    </a:p>
                  </a:txBody>
                  <a:tcPr/>
                </a:tc>
                <a:tc>
                  <a:txBody>
                    <a:bodyPr/>
                    <a:lstStyle/>
                    <a:p>
                      <a:r>
                        <a:rPr lang="en-US" b="0" dirty="0">
                          <a:latin typeface="Times New Roman" panose="02020603050405020304" pitchFamily="18" charset="0"/>
                          <a:cs typeface="Times New Roman" panose="02020603050405020304" pitchFamily="18" charset="0"/>
                        </a:rPr>
                        <a:t>23BQ1A05H3</a:t>
                      </a:r>
                    </a:p>
                  </a:txBody>
                  <a:tcPr/>
                </a:tc>
                <a:tc>
                  <a:txBody>
                    <a:bodyPr/>
                    <a:lstStyle/>
                    <a:p>
                      <a:r>
                        <a:rPr lang="en-US" b="0" dirty="0">
                          <a:latin typeface="Times New Roman" panose="02020603050405020304" pitchFamily="18" charset="0"/>
                          <a:cs typeface="Times New Roman" panose="02020603050405020304" pitchFamily="18" charset="0"/>
                        </a:rPr>
                        <a:t>P. Sathwik</a:t>
                      </a:r>
                    </a:p>
                  </a:txBody>
                  <a:tcPr/>
                </a:tc>
                <a:extLst>
                  <a:ext uri="{0D108BD9-81ED-4DB2-BD59-A6C34878D82A}">
                    <a16:rowId xmlns:a16="http://schemas.microsoft.com/office/drawing/2014/main" val="3995866975"/>
                  </a:ext>
                </a:extLst>
              </a:tr>
              <a:tr h="370840">
                <a:tc>
                  <a:txBody>
                    <a:bodyPr/>
                    <a:lstStyle/>
                    <a:p>
                      <a:r>
                        <a:rPr lang="en-US" b="0" dirty="0">
                          <a:latin typeface="Times New Roman" panose="02020603050405020304" pitchFamily="18" charset="0"/>
                          <a:cs typeface="Times New Roman" panose="02020603050405020304" pitchFamily="18" charset="0"/>
                        </a:rPr>
                        <a:t>2.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23BQ1A05D3</a:t>
                      </a:r>
                    </a:p>
                  </a:txBody>
                  <a:tcPr/>
                </a:tc>
                <a:tc>
                  <a:txBody>
                    <a:bodyPr/>
                    <a:lstStyle/>
                    <a:p>
                      <a:r>
                        <a:rPr lang="en-US" b="0" dirty="0">
                          <a:latin typeface="Times New Roman" panose="02020603050405020304" pitchFamily="18" charset="0"/>
                          <a:cs typeface="Times New Roman" panose="02020603050405020304" pitchFamily="18" charset="0"/>
                        </a:rPr>
                        <a:t>M. Krishna Revanth</a:t>
                      </a:r>
                    </a:p>
                  </a:txBody>
                  <a:tcPr/>
                </a:tc>
                <a:extLst>
                  <a:ext uri="{0D108BD9-81ED-4DB2-BD59-A6C34878D82A}">
                    <a16:rowId xmlns:a16="http://schemas.microsoft.com/office/drawing/2014/main" val="3044002559"/>
                  </a:ext>
                </a:extLst>
              </a:tr>
              <a:tr h="370840">
                <a:tc>
                  <a:txBody>
                    <a:bodyPr/>
                    <a:lstStyle/>
                    <a:p>
                      <a:r>
                        <a:rPr lang="en-US" b="0" dirty="0">
                          <a:latin typeface="Times New Roman" panose="02020603050405020304" pitchFamily="18" charset="0"/>
                          <a:cs typeface="Times New Roman" panose="02020603050405020304" pitchFamily="18" charset="0"/>
                        </a:rPr>
                        <a:t>3.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23BQ1A05F1</a:t>
                      </a:r>
                    </a:p>
                  </a:txBody>
                  <a:tcPr/>
                </a:tc>
                <a:tc>
                  <a:txBody>
                    <a:bodyPr/>
                    <a:lstStyle/>
                    <a:p>
                      <a:r>
                        <a:rPr lang="en-US" b="0" dirty="0">
                          <a:latin typeface="Times New Roman" panose="02020603050405020304" pitchFamily="18" charset="0"/>
                          <a:cs typeface="Times New Roman" panose="02020603050405020304" pitchFamily="18" charset="0"/>
                        </a:rPr>
                        <a:t>M. Leela Madhavi</a:t>
                      </a:r>
                    </a:p>
                  </a:txBody>
                  <a:tcPr/>
                </a:tc>
                <a:extLst>
                  <a:ext uri="{0D108BD9-81ED-4DB2-BD59-A6C34878D82A}">
                    <a16:rowId xmlns:a16="http://schemas.microsoft.com/office/drawing/2014/main" val="3544857230"/>
                  </a:ext>
                </a:extLst>
              </a:tr>
              <a:tr h="370840">
                <a:tc>
                  <a:txBody>
                    <a:bodyPr/>
                    <a:lstStyle/>
                    <a:p>
                      <a:r>
                        <a:rPr lang="en-US" b="0" dirty="0">
                          <a:latin typeface="Times New Roman" panose="02020603050405020304" pitchFamily="18" charset="0"/>
                          <a:cs typeface="Times New Roman" panose="02020603050405020304" pitchFamily="18" charset="0"/>
                        </a:rPr>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23BQ1A05F2</a:t>
                      </a:r>
                    </a:p>
                  </a:txBody>
                  <a:tcPr/>
                </a:tc>
                <a:tc>
                  <a:txBody>
                    <a:bodyPr/>
                    <a:lstStyle/>
                    <a:p>
                      <a:r>
                        <a:rPr lang="en-US" b="0" dirty="0">
                          <a:latin typeface="Times New Roman" panose="02020603050405020304" pitchFamily="18" charset="0"/>
                          <a:cs typeface="Times New Roman" panose="02020603050405020304" pitchFamily="18" charset="0"/>
                        </a:rPr>
                        <a:t>N. Yaswanth</a:t>
                      </a:r>
                    </a:p>
                  </a:txBody>
                  <a:tcPr/>
                </a:tc>
                <a:extLst>
                  <a:ext uri="{0D108BD9-81ED-4DB2-BD59-A6C34878D82A}">
                    <a16:rowId xmlns:a16="http://schemas.microsoft.com/office/drawing/2014/main" val="3309803822"/>
                  </a:ext>
                </a:extLst>
              </a:tr>
            </a:tbl>
          </a:graphicData>
        </a:graphic>
      </p:graphicFrame>
      <p:sp>
        <p:nvSpPr>
          <p:cNvPr id="5" name="TextBox 4">
            <a:extLst>
              <a:ext uri="{FF2B5EF4-FFF2-40B4-BE49-F238E27FC236}">
                <a16:creationId xmlns:a16="http://schemas.microsoft.com/office/drawing/2014/main" id="{61E1F0C4-694B-A7CE-2CEB-9D89F25D64DF}"/>
              </a:ext>
            </a:extLst>
          </p:cNvPr>
          <p:cNvSpPr txBox="1"/>
          <p:nvPr/>
        </p:nvSpPr>
        <p:spPr>
          <a:xfrm>
            <a:off x="887506" y="3643674"/>
            <a:ext cx="221428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Batch No: 0</a:t>
            </a:r>
            <a:r>
              <a:rPr lang="en-US"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1569002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D32DFF-E768-178E-94F6-FAF47C0C572C}"/>
              </a:ext>
            </a:extLst>
          </p:cNvPr>
          <p:cNvSpPr txBox="1"/>
          <p:nvPr/>
        </p:nvSpPr>
        <p:spPr>
          <a:xfrm>
            <a:off x="1896035" y="2705725"/>
            <a:ext cx="8068236" cy="1446550"/>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PHASE-1:IDEATION AND 			  				PLANNING</a:t>
            </a:r>
          </a:p>
        </p:txBody>
      </p:sp>
      <p:pic>
        <p:nvPicPr>
          <p:cNvPr id="3" name="Picture 2">
            <a:extLst>
              <a:ext uri="{FF2B5EF4-FFF2-40B4-BE49-F238E27FC236}">
                <a16:creationId xmlns:a16="http://schemas.microsoft.com/office/drawing/2014/main" id="{7ABD59EC-B1D2-A64C-045F-24D7C338F807}"/>
              </a:ext>
            </a:extLst>
          </p:cNvPr>
          <p:cNvPicPr>
            <a:picLocks noChangeAspect="1"/>
          </p:cNvPicPr>
          <p:nvPr/>
        </p:nvPicPr>
        <p:blipFill>
          <a:blip r:embed="rId2"/>
          <a:stretch>
            <a:fillRect/>
          </a:stretch>
        </p:blipFill>
        <p:spPr>
          <a:xfrm>
            <a:off x="277105" y="0"/>
            <a:ext cx="1902117" cy="1908213"/>
          </a:xfrm>
          <a:prstGeom prst="rect">
            <a:avLst/>
          </a:prstGeom>
        </p:spPr>
      </p:pic>
    </p:spTree>
    <p:extLst>
      <p:ext uri="{BB962C8B-B14F-4D97-AF65-F5344CB8AC3E}">
        <p14:creationId xmlns:p14="http://schemas.microsoft.com/office/powerpoint/2010/main" val="62035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8C089-C50C-1A84-71D4-777D2D70AEF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a:t>
            </a:r>
            <a:r>
              <a:rPr lang="en-US" b="1" dirty="0">
                <a:latin typeface="Times New Roman" panose="02020603050405020304" pitchFamily="18" charset="0"/>
                <a:cs typeface="Times New Roman" panose="02020603050405020304" pitchFamily="18" charset="0"/>
              </a:rPr>
              <a:t> </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IDENTIFICATION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C731F72-DFD1-30B0-C8B1-182E67F2E51B}"/>
              </a:ext>
            </a:extLst>
          </p:cNvPr>
          <p:cNvSpPr>
            <a:spLocks noGrp="1"/>
          </p:cNvSpPr>
          <p:nvPr>
            <p:ph sz="half" idx="1"/>
          </p:nvPr>
        </p:nvSpPr>
        <p:spPr>
          <a:xfrm>
            <a:off x="349623" y="1724811"/>
            <a:ext cx="5840506" cy="4854388"/>
          </a:xfrm>
        </p:spPr>
        <p:txBody>
          <a:bodyPr>
            <a:normAutofit fontScale="92500" lnSpcReduction="20000"/>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Short-video platforms like Instagram Reels and YouTube Shorts widely share movie scenes without mentioning the movie name.</a:t>
            </a:r>
          </a:p>
          <a:p>
            <a:r>
              <a:rPr lang="en-US" dirty="0">
                <a:latin typeface="Times New Roman" panose="02020603050405020304" pitchFamily="18" charset="0"/>
                <a:cs typeface="Times New Roman" panose="02020603050405020304" pitchFamily="18" charset="0"/>
              </a:rPr>
              <a:t>Viewers often struggle to identify the original movie from short, edited, or low-context video clips.</a:t>
            </a:r>
          </a:p>
          <a:p>
            <a:r>
              <a:rPr lang="en-US" dirty="0">
                <a:latin typeface="Times New Roman" panose="02020603050405020304" pitchFamily="18" charset="0"/>
                <a:cs typeface="Times New Roman" panose="02020603050405020304" pitchFamily="18" charset="0"/>
              </a:rPr>
              <a:t>Replacement or removal of original movie audio makes existing audio-based identification tools unreliable.</a:t>
            </a:r>
          </a:p>
          <a:p>
            <a:r>
              <a:rPr lang="en-US" dirty="0">
                <a:latin typeface="Times New Roman" panose="02020603050405020304" pitchFamily="18" charset="0"/>
                <a:cs typeface="Times New Roman" panose="02020603050405020304" pitchFamily="18" charset="0"/>
              </a:rPr>
              <a:t>Users depend on comments or manual searching, which is time-consuming and often inaccurate.</a:t>
            </a:r>
          </a:p>
          <a:p>
            <a:r>
              <a:rPr lang="en-US" dirty="0">
                <a:latin typeface="Times New Roman" panose="02020603050405020304" pitchFamily="18" charset="0"/>
                <a:cs typeface="Times New Roman" panose="02020603050405020304" pitchFamily="18" charset="0"/>
              </a:rPr>
              <a:t>Lack of proper movie identification leads to misinformation and poor content attribution.</a:t>
            </a:r>
          </a:p>
          <a:p>
            <a:r>
              <a:rPr lang="en-US" dirty="0">
                <a:latin typeface="Times New Roman" panose="02020603050405020304" pitchFamily="18" charset="0"/>
                <a:cs typeface="Times New Roman" panose="02020603050405020304" pitchFamily="18" charset="0"/>
              </a:rPr>
              <a:t>The entertainment and media technology industries require better solutions for content discovery and audience engagement.</a:t>
            </a:r>
          </a:p>
          <a:p>
            <a:r>
              <a:rPr lang="en-US" dirty="0">
                <a:latin typeface="Times New Roman" panose="02020603050405020304" pitchFamily="18" charset="0"/>
                <a:cs typeface="Times New Roman" panose="02020603050405020304" pitchFamily="18" charset="0"/>
              </a:rPr>
              <a:t>There is a need for a reliable, cross-platform system that can identify movies using multiple inputs such as video, audio, and text.</a:t>
            </a:r>
          </a:p>
          <a:p>
            <a:endParaRPr lang="en-US" dirty="0"/>
          </a:p>
        </p:txBody>
      </p:sp>
      <p:pic>
        <p:nvPicPr>
          <p:cNvPr id="20" name="Content Placeholder 19">
            <a:extLst>
              <a:ext uri="{FF2B5EF4-FFF2-40B4-BE49-F238E27FC236}">
                <a16:creationId xmlns:a16="http://schemas.microsoft.com/office/drawing/2014/main" id="{A49C6E28-06C4-E183-64AE-B16F60DE29F7}"/>
              </a:ext>
            </a:extLst>
          </p:cNvPr>
          <p:cNvPicPr>
            <a:picLocks noGrp="1" noChangeAspect="1"/>
          </p:cNvPicPr>
          <p:nvPr>
            <p:ph sz="half" idx="2"/>
          </p:nvPr>
        </p:nvPicPr>
        <p:blipFill>
          <a:blip r:embed="rId2"/>
          <a:srcRect t="12081" b="19463"/>
          <a:stretch>
            <a:fillRect/>
          </a:stretch>
        </p:blipFill>
        <p:spPr>
          <a:xfrm>
            <a:off x="6096000" y="1724811"/>
            <a:ext cx="4016189" cy="4114798"/>
          </a:xfrm>
          <a:prstGeom prst="rect">
            <a:avLst/>
          </a:prstGeom>
          <a:ln>
            <a:noFill/>
          </a:ln>
          <a:effectLst>
            <a:softEdge rad="112500"/>
          </a:effectLst>
        </p:spPr>
      </p:pic>
      <p:pic>
        <p:nvPicPr>
          <p:cNvPr id="21" name="Picture 20">
            <a:extLst>
              <a:ext uri="{FF2B5EF4-FFF2-40B4-BE49-F238E27FC236}">
                <a16:creationId xmlns:a16="http://schemas.microsoft.com/office/drawing/2014/main" id="{21B98A4A-CDB1-AA89-713B-8AA13CBC5CB1}"/>
              </a:ext>
            </a:extLst>
          </p:cNvPr>
          <p:cNvPicPr>
            <a:picLocks noChangeAspect="1"/>
          </p:cNvPicPr>
          <p:nvPr/>
        </p:nvPicPr>
        <p:blipFill>
          <a:blip r:embed="rId3"/>
          <a:stretch>
            <a:fillRect/>
          </a:stretch>
        </p:blipFill>
        <p:spPr>
          <a:xfrm>
            <a:off x="0" y="-3213"/>
            <a:ext cx="1902117" cy="1908213"/>
          </a:xfrm>
          <a:prstGeom prst="rect">
            <a:avLst/>
          </a:prstGeom>
        </p:spPr>
      </p:pic>
      <p:sp>
        <p:nvSpPr>
          <p:cNvPr id="22" name="TextBox 21">
            <a:extLst>
              <a:ext uri="{FF2B5EF4-FFF2-40B4-BE49-F238E27FC236}">
                <a16:creationId xmlns:a16="http://schemas.microsoft.com/office/drawing/2014/main" id="{4BE5B482-8747-B657-6CB2-8613A343863E}"/>
              </a:ext>
            </a:extLst>
          </p:cNvPr>
          <p:cNvSpPr txBox="1"/>
          <p:nvPr/>
        </p:nvSpPr>
        <p:spPr>
          <a:xfrm rot="21307881">
            <a:off x="8408244" y="2358546"/>
            <a:ext cx="1020797" cy="369332"/>
          </a:xfrm>
          <a:prstGeom prst="rect">
            <a:avLst/>
          </a:prstGeom>
          <a:noFill/>
        </p:spPr>
        <p:txBody>
          <a:bodyPr wrap="square" rtlCol="0">
            <a:spAutoFit/>
          </a:bodyPr>
          <a:lstStyle/>
          <a:p>
            <a:r>
              <a:rPr lang="en-US" dirty="0">
                <a:solidFill>
                  <a:schemeClr val="bg1"/>
                </a:solidFill>
              </a:rPr>
              <a:t>Movie?</a:t>
            </a:r>
          </a:p>
        </p:txBody>
      </p:sp>
    </p:spTree>
    <p:extLst>
      <p:ext uri="{BB962C8B-B14F-4D97-AF65-F5344CB8AC3E}">
        <p14:creationId xmlns:p14="http://schemas.microsoft.com/office/powerpoint/2010/main" val="2366751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7C945-3F70-286D-879D-14E89C01B34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 STATEMENT</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F101CB4-2C21-C084-F0CB-1D14326A4B71}"/>
              </a:ext>
            </a:extLst>
          </p:cNvPr>
          <p:cNvSpPr>
            <a:spLocks noGrp="1"/>
          </p:cNvSpPr>
          <p:nvPr>
            <p:ph idx="1"/>
          </p:nvPr>
        </p:nvSpPr>
        <p:spPr>
          <a:xfrm>
            <a:off x="677334" y="1716837"/>
            <a:ext cx="8596668" cy="3880773"/>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		There is no widely available cross-platform system that can reliably identify movies from short video clips across both web and Android platforms, especially when audio is modified or missing. Existing solutions fail to combine multiple sources of information such as audio, visuals, and text. Hence, there is a need to develop a multimodal movie identification system that can analyze short video clips and provide accurate movie details through both a web application and an Android application.</a:t>
            </a:r>
          </a:p>
        </p:txBody>
      </p:sp>
      <p:pic>
        <p:nvPicPr>
          <p:cNvPr id="4" name="Picture 3">
            <a:extLst>
              <a:ext uri="{FF2B5EF4-FFF2-40B4-BE49-F238E27FC236}">
                <a16:creationId xmlns:a16="http://schemas.microsoft.com/office/drawing/2014/main" id="{835240FC-3746-520D-B1FF-8037A17D8715}"/>
              </a:ext>
            </a:extLst>
          </p:cNvPr>
          <p:cNvPicPr>
            <a:picLocks noChangeAspect="1"/>
          </p:cNvPicPr>
          <p:nvPr/>
        </p:nvPicPr>
        <p:blipFill>
          <a:blip r:embed="rId2"/>
          <a:stretch>
            <a:fillRect/>
          </a:stretch>
        </p:blipFill>
        <p:spPr>
          <a:xfrm>
            <a:off x="223318" y="0"/>
            <a:ext cx="1902117" cy="1908213"/>
          </a:xfrm>
          <a:prstGeom prst="rect">
            <a:avLst/>
          </a:prstGeom>
        </p:spPr>
      </p:pic>
    </p:spTree>
    <p:extLst>
      <p:ext uri="{BB962C8B-B14F-4D97-AF65-F5344CB8AC3E}">
        <p14:creationId xmlns:p14="http://schemas.microsoft.com/office/powerpoint/2010/main" val="2284771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3510-02C6-AA55-AF79-106210637BB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MODULE DIVISION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2D8656-4DFB-8B4B-F332-20B5C6E38EA6}"/>
              </a:ext>
            </a:extLst>
          </p:cNvPr>
          <p:cNvSpPr>
            <a:spLocks noGrp="1"/>
          </p:cNvSpPr>
          <p:nvPr>
            <p:ph idx="1"/>
          </p:nvPr>
        </p:nvSpPr>
        <p:spPr>
          <a:xfrm>
            <a:off x="677334" y="1183341"/>
            <a:ext cx="8596668" cy="5674659"/>
          </a:xfrm>
        </p:spPr>
        <p:txBody>
          <a:bodyPr>
            <a:normAutofit fontScale="70000" lnSpcReduction="20000"/>
          </a:bodyPr>
          <a:lstStyle/>
          <a:p>
            <a:pPr>
              <a:buClr>
                <a:schemeClr val="tx1"/>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a:buClr>
                <a:schemeClr val="tx1"/>
              </a:buClr>
              <a:buFont typeface="Wingdings" panose="05000000000000000000" pitchFamily="2" charset="2"/>
              <a:buChar char="Ø"/>
            </a:pPr>
            <a:r>
              <a:rPr lang="en-US" sz="1900" b="1" dirty="0">
                <a:solidFill>
                  <a:schemeClr val="tx1"/>
                </a:solidFill>
                <a:latin typeface="Times New Roman" panose="02020603050405020304" pitchFamily="18" charset="0"/>
                <a:cs typeface="Times New Roman" panose="02020603050405020304" pitchFamily="18" charset="0"/>
              </a:rPr>
              <a:t>User Interface Module (Web &amp; Android): </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Provides user interaction through a web app and Android app</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Allows users to upload short video clips or paste reel/video URLs</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Validates video size, duration, and format before upload and displays upload status, loading indicators, and results</a:t>
            </a:r>
          </a:p>
          <a:p>
            <a:pPr>
              <a:buClr>
                <a:schemeClr val="tx1"/>
              </a:buClr>
              <a:buFont typeface="Wingdings" panose="05000000000000000000" pitchFamily="2" charset="2"/>
              <a:buChar char="Ø"/>
            </a:pPr>
            <a:r>
              <a:rPr lang="en-US" sz="1900" b="1" dirty="0">
                <a:solidFill>
                  <a:schemeClr val="tx1"/>
                </a:solidFill>
                <a:latin typeface="Times New Roman" panose="02020603050405020304" pitchFamily="18" charset="0"/>
                <a:cs typeface="Times New Roman" panose="02020603050405020304" pitchFamily="18" charset="0"/>
              </a:rPr>
              <a:t>Video &amp; Audio Processing Module: </a:t>
            </a:r>
            <a:endParaRPr lang="en-US" sz="1900" dirty="0">
              <a:solidFill>
                <a:schemeClr val="tx1"/>
              </a:solidFill>
              <a:latin typeface="Times New Roman" panose="02020603050405020304" pitchFamily="18" charset="0"/>
              <a:cs typeface="Times New Roman" panose="02020603050405020304" pitchFamily="18" charset="0"/>
            </a:endParaRP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Trims the uploaded video to a fixed short duration</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Extracts the audio track from the video and  key video frames at regular intervals or scene changes</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Reduces processing load by avoiding full video analysis</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Temporarily stores extracted media and deletes it after processing</a:t>
            </a:r>
          </a:p>
          <a:p>
            <a:pPr>
              <a:buClr>
                <a:schemeClr val="tx1"/>
              </a:buClr>
              <a:buFont typeface="Wingdings" panose="05000000000000000000" pitchFamily="2" charset="2"/>
              <a:buChar char="Ø"/>
            </a:pPr>
            <a:r>
              <a:rPr lang="en-US" sz="1900" b="1" dirty="0">
                <a:solidFill>
                  <a:schemeClr val="tx1"/>
                </a:solidFill>
                <a:latin typeface="Times New Roman" panose="02020603050405020304" pitchFamily="18" charset="0"/>
                <a:cs typeface="Times New Roman" panose="02020603050405020304" pitchFamily="18" charset="0"/>
              </a:rPr>
              <a:t>Audio Recognition Module: </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Analyzes extracted audio using audio fingerprinting</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Matches audio with known movie soundtracks or dialogues</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Generates movie name with a confidence score and Sends results to the decision module for validation</a:t>
            </a:r>
          </a:p>
          <a:p>
            <a:pPr>
              <a:buClr>
                <a:schemeClr val="tx1"/>
              </a:buClr>
              <a:buFont typeface="Wingdings" panose="05000000000000000000" pitchFamily="2" charset="2"/>
              <a:buChar char="Ø"/>
            </a:pPr>
            <a:r>
              <a:rPr lang="en-US" sz="1900" b="1" dirty="0">
                <a:solidFill>
                  <a:schemeClr val="tx1"/>
                </a:solidFill>
                <a:latin typeface="Times New Roman" panose="02020603050405020304" pitchFamily="18" charset="0"/>
                <a:cs typeface="Times New Roman" panose="02020603050405020304" pitchFamily="18" charset="0"/>
              </a:rPr>
              <a:t>Visual Analysis Module:</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Processes key video frames as images</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Analyzes actors, costumes, scenes, and visual patterns</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Compares frames with known movie scene representations</a:t>
            </a:r>
          </a:p>
          <a:p>
            <a:pPr lvl="1">
              <a:buClr>
                <a:schemeClr val="tx1"/>
              </a:buClr>
              <a:buFont typeface="Arial" panose="020B0604020202020204" pitchFamily="34" charset="0"/>
              <a:buChar char="•"/>
            </a:pPr>
            <a:r>
              <a:rPr lang="en-US" sz="1900" dirty="0">
                <a:solidFill>
                  <a:schemeClr val="tx1"/>
                </a:solidFill>
                <a:latin typeface="Times New Roman" panose="02020603050405020304" pitchFamily="18" charset="0"/>
                <a:cs typeface="Times New Roman" panose="02020603050405020304" pitchFamily="18" charset="0"/>
              </a:rPr>
              <a:t>Useful when audio is missing or replaced and Outputs visually matched movie candidates with confidence</a:t>
            </a:r>
          </a:p>
          <a:p>
            <a:pPr lvl="1">
              <a:buClr>
                <a:schemeClr val="tx1"/>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a:buClr>
                <a:schemeClr val="tx1"/>
              </a:buCl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D014692-8777-C39D-6E18-535F8A6FDCA0}"/>
              </a:ext>
            </a:extLst>
          </p:cNvPr>
          <p:cNvPicPr>
            <a:picLocks noChangeAspect="1"/>
          </p:cNvPicPr>
          <p:nvPr/>
        </p:nvPicPr>
        <p:blipFill>
          <a:blip r:embed="rId2"/>
          <a:srcRect t="14094" b="11913"/>
          <a:stretch>
            <a:fillRect/>
          </a:stretch>
        </p:blipFill>
        <p:spPr>
          <a:xfrm>
            <a:off x="0" y="76671"/>
            <a:ext cx="1902117" cy="1411942"/>
          </a:xfrm>
          <a:prstGeom prst="rect">
            <a:avLst/>
          </a:prstGeom>
        </p:spPr>
      </p:pic>
    </p:spTree>
    <p:extLst>
      <p:ext uri="{BB962C8B-B14F-4D97-AF65-F5344CB8AC3E}">
        <p14:creationId xmlns:p14="http://schemas.microsoft.com/office/powerpoint/2010/main" val="1391743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A60BBD-EE4F-35EB-AE6C-5D5F69C7AD1D}"/>
              </a:ext>
            </a:extLst>
          </p:cNvPr>
          <p:cNvSpPr>
            <a:spLocks noGrp="1"/>
          </p:cNvSpPr>
          <p:nvPr>
            <p:ph idx="1"/>
          </p:nvPr>
        </p:nvSpPr>
        <p:spPr>
          <a:xfrm>
            <a:off x="880140" y="1408298"/>
            <a:ext cx="7820107" cy="5207655"/>
          </a:xfrm>
        </p:spPr>
        <p:txBody>
          <a:bodyPr>
            <a:noAutofit/>
          </a:bodyPr>
          <a:lstStyle/>
          <a:p>
            <a:pPr>
              <a:buClr>
                <a:schemeClr val="tx1"/>
              </a:buClr>
              <a:buFont typeface="Wingdings" panose="05000000000000000000" pitchFamily="2" charset="2"/>
              <a:buChar char="Ø"/>
            </a:pPr>
            <a:r>
              <a:rPr lang="en-US" sz="1500" b="1" dirty="0">
                <a:solidFill>
                  <a:schemeClr val="tx1"/>
                </a:solidFill>
                <a:latin typeface="Times New Roman" panose="02020603050405020304" pitchFamily="18" charset="0"/>
                <a:cs typeface="Times New Roman" panose="02020603050405020304" pitchFamily="18" charset="0"/>
              </a:rPr>
              <a:t>Text Extraction &amp; NLP Module</a:t>
            </a:r>
          </a:p>
          <a:p>
            <a:pPr lvl="1">
              <a:buClr>
                <a:schemeClr val="tx1"/>
              </a:buClr>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Extracts on-screen text using OCR techniques</a:t>
            </a:r>
          </a:p>
          <a:p>
            <a:pPr lvl="1">
              <a:buClr>
                <a:schemeClr val="tx1"/>
              </a:buClr>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Analyzes hashtags, captions, or metadata (if available)</a:t>
            </a:r>
          </a:p>
          <a:p>
            <a:pPr lvl="1">
              <a:buClr>
                <a:schemeClr val="tx1"/>
              </a:buClr>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Filters and extracts meaningful keywords and provides additional clues for movie identification</a:t>
            </a:r>
            <a:endParaRPr lang="en-US" sz="1500" b="1" dirty="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buClr>
                <a:schemeClr val="tx1"/>
              </a:buClr>
              <a:buFont typeface="Wingdings" panose="05000000000000000000" pitchFamily="2" charset="2"/>
              <a:buChar char="Ø"/>
            </a:pPr>
            <a:r>
              <a:rPr lang="en-US" sz="1500" b="1" dirty="0">
                <a:solidFill>
                  <a:schemeClr val="tx1"/>
                </a:solidFill>
                <a:latin typeface="Times New Roman" panose="02020603050405020304" pitchFamily="18" charset="0"/>
                <a:cs typeface="Times New Roman" panose="02020603050405020304" pitchFamily="18" charset="0"/>
              </a:rPr>
              <a:t>Decision &amp; Fusion Module</a:t>
            </a:r>
          </a:p>
          <a:p>
            <a:pPr lvl="1">
              <a:buClr>
                <a:schemeClr val="tx1"/>
              </a:buClr>
              <a:buFont typeface="Arial" panose="020B0604020202020204" pitchFamily="34" charset="0"/>
              <a:buChar char="•"/>
            </a:pPr>
            <a:r>
              <a:rPr lang="en-US" sz="1500" dirty="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lang="en-US" sz="1500" dirty="0">
                <a:solidFill>
                  <a:schemeClr val="tx1"/>
                </a:solidFill>
                <a:latin typeface="Times New Roman" panose="02020603050405020304" pitchFamily="18" charset="0"/>
                <a:cs typeface="Times New Roman" panose="02020603050405020304" pitchFamily="18" charset="0"/>
              </a:rPr>
              <a:t>Combines results from audio, visual, and text modules and selects the most accurate movie match</a:t>
            </a:r>
          </a:p>
          <a:p>
            <a:pPr lvl="1">
              <a:buClr>
                <a:schemeClr val="tx1"/>
              </a:buClr>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 Assigns priority based on confidence scores</a:t>
            </a:r>
          </a:p>
          <a:p>
            <a:pPr lvl="1">
              <a:buClr>
                <a:schemeClr val="tx1"/>
              </a:buClr>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Detects and resolves conflicts between different sources</a:t>
            </a:r>
          </a:p>
          <a:p>
            <a:pPr>
              <a:buClr>
                <a:schemeClr val="tx1"/>
              </a:buClr>
              <a:buFont typeface="Wingdings" panose="05000000000000000000" pitchFamily="2" charset="2"/>
              <a:buChar char="Ø"/>
            </a:pPr>
            <a:r>
              <a:rPr lang="en-US" sz="1500" b="1" dirty="0">
                <a:solidFill>
                  <a:schemeClr val="tx1"/>
                </a:solidFill>
                <a:latin typeface="Times New Roman" panose="02020603050405020304" pitchFamily="18" charset="0"/>
                <a:cs typeface="Times New Roman" panose="02020603050405020304" pitchFamily="18" charset="0"/>
              </a:rPr>
              <a:t>Movie Information Retrieval Module</a:t>
            </a:r>
          </a:p>
          <a:p>
            <a:pPr lvl="1">
              <a:buClr>
                <a:schemeClr val="tx1"/>
              </a:buClr>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Fetches movie details from external movie databases</a:t>
            </a:r>
          </a:p>
          <a:p>
            <a:pPr lvl="1">
              <a:buClr>
                <a:schemeClr val="tx1"/>
              </a:buClr>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Retrieves title, release year, cast, genre, and ratings</a:t>
            </a:r>
          </a:p>
          <a:p>
            <a:pPr lvl="1">
              <a:buClr>
                <a:schemeClr val="tx1"/>
              </a:buClr>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Ensures structured and up-to-date information </a:t>
            </a:r>
          </a:p>
          <a:p>
            <a:pPr lvl="1">
              <a:buClr>
                <a:schemeClr val="tx1"/>
              </a:buClr>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 Enhances the final output quality for users.</a:t>
            </a:r>
          </a:p>
        </p:txBody>
      </p:sp>
      <p:pic>
        <p:nvPicPr>
          <p:cNvPr id="4" name="Picture 3">
            <a:extLst>
              <a:ext uri="{FF2B5EF4-FFF2-40B4-BE49-F238E27FC236}">
                <a16:creationId xmlns:a16="http://schemas.microsoft.com/office/drawing/2014/main" id="{FD3BF2AC-3FCC-3D68-1B66-AC076D004640}"/>
              </a:ext>
            </a:extLst>
          </p:cNvPr>
          <p:cNvPicPr>
            <a:picLocks noChangeAspect="1"/>
          </p:cNvPicPr>
          <p:nvPr/>
        </p:nvPicPr>
        <p:blipFill>
          <a:blip r:embed="rId2"/>
          <a:stretch>
            <a:fillRect/>
          </a:stretch>
        </p:blipFill>
        <p:spPr>
          <a:xfrm>
            <a:off x="0" y="0"/>
            <a:ext cx="1902117" cy="1408298"/>
          </a:xfrm>
          <a:prstGeom prst="rect">
            <a:avLst/>
          </a:prstGeom>
        </p:spPr>
      </p:pic>
    </p:spTree>
    <p:extLst>
      <p:ext uri="{BB962C8B-B14F-4D97-AF65-F5344CB8AC3E}">
        <p14:creationId xmlns:p14="http://schemas.microsoft.com/office/powerpoint/2010/main" val="3348098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298EE9-8FC7-2E89-D80A-779F66455D8A}"/>
              </a:ext>
            </a:extLst>
          </p:cNvPr>
          <p:cNvSpPr>
            <a:spLocks noGrp="1"/>
          </p:cNvSpPr>
          <p:nvPr>
            <p:ph idx="1"/>
          </p:nvPr>
        </p:nvSpPr>
        <p:spPr>
          <a:xfrm>
            <a:off x="623545" y="842778"/>
            <a:ext cx="8596668" cy="3880773"/>
          </a:xfrm>
        </p:spPr>
        <p:txBody>
          <a:bodyPr/>
          <a:lstStyle/>
          <a:p>
            <a:pPr>
              <a:buClr>
                <a:schemeClr val="tx1"/>
              </a:buClr>
              <a:buFont typeface="Wingdings" panose="05000000000000000000" pitchFamily="2" charset="2"/>
              <a:buChar char="Ø"/>
            </a:pPr>
            <a:r>
              <a:rPr lang="en-US" sz="1400" b="1" dirty="0">
                <a:solidFill>
                  <a:schemeClr val="tx1"/>
                </a:solidFill>
                <a:latin typeface="Times New Roman" panose="02020603050405020304" pitchFamily="18" charset="0"/>
                <a:cs typeface="Times New Roman" panose="02020603050405020304" pitchFamily="18" charset="0"/>
              </a:rPr>
              <a:t>                                                    </a:t>
            </a:r>
          </a:p>
          <a:p>
            <a:pPr>
              <a:buClr>
                <a:schemeClr val="tx1"/>
              </a:buClr>
              <a:buFont typeface="Wingdings" panose="05000000000000000000" pitchFamily="2" charset="2"/>
              <a:buChar char="Ø"/>
            </a:pPr>
            <a:r>
              <a:rPr lang="en-US" sz="1400" b="1" dirty="0">
                <a:solidFill>
                  <a:schemeClr val="tx1"/>
                </a:solidFill>
                <a:latin typeface="Times New Roman" panose="02020603050405020304" pitchFamily="18" charset="0"/>
                <a:cs typeface="Times New Roman" panose="02020603050405020304" pitchFamily="18" charset="0"/>
              </a:rPr>
              <a:t>         Result Display Module</a:t>
            </a:r>
          </a:p>
          <a:p>
            <a:pPr lvl="1">
              <a:buClr>
                <a:schemeClr val="tx1"/>
              </a:buClr>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Displays identified movie details clearly</a:t>
            </a:r>
          </a:p>
          <a:p>
            <a:pPr lvl="1">
              <a:buClr>
                <a:schemeClr val="tx1"/>
              </a:buClr>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Shows confidence level and related information</a:t>
            </a:r>
          </a:p>
          <a:p>
            <a:pPr lvl="1">
              <a:buClr>
                <a:schemeClr val="tx1"/>
              </a:buClr>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Presents posters, cast lists, and summaries</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347715E1-45CB-06C5-1CF4-FDD6EE59798D}"/>
              </a:ext>
            </a:extLst>
          </p:cNvPr>
          <p:cNvPicPr>
            <a:picLocks noChangeAspect="1"/>
          </p:cNvPicPr>
          <p:nvPr/>
        </p:nvPicPr>
        <p:blipFill>
          <a:blip r:embed="rId2"/>
          <a:srcRect l="3812" t="23503" r="8214" b="14943"/>
          <a:stretch>
            <a:fillRect/>
          </a:stretch>
        </p:blipFill>
        <p:spPr>
          <a:xfrm>
            <a:off x="504519" y="2645980"/>
            <a:ext cx="9049871" cy="415514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 name="Picture 1">
            <a:extLst>
              <a:ext uri="{FF2B5EF4-FFF2-40B4-BE49-F238E27FC236}">
                <a16:creationId xmlns:a16="http://schemas.microsoft.com/office/drawing/2014/main" id="{40EB1702-B94B-9CE1-6FFB-3D2F5B9BC64C}"/>
              </a:ext>
            </a:extLst>
          </p:cNvPr>
          <p:cNvPicPr>
            <a:picLocks noChangeAspect="1"/>
          </p:cNvPicPr>
          <p:nvPr/>
        </p:nvPicPr>
        <p:blipFill>
          <a:blip r:embed="rId3"/>
          <a:srcRect t="9200" b="10593"/>
          <a:stretch>
            <a:fillRect/>
          </a:stretch>
        </p:blipFill>
        <p:spPr>
          <a:xfrm>
            <a:off x="0" y="3634"/>
            <a:ext cx="1902117" cy="1129552"/>
          </a:xfrm>
          <a:prstGeom prst="rect">
            <a:avLst/>
          </a:prstGeom>
        </p:spPr>
      </p:pic>
    </p:spTree>
    <p:extLst>
      <p:ext uri="{BB962C8B-B14F-4D97-AF65-F5344CB8AC3E}">
        <p14:creationId xmlns:p14="http://schemas.microsoft.com/office/powerpoint/2010/main" val="81093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AA793-644F-D129-A9E3-E38C4C06C3C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TECHNICAL STACK</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4BE1BF-FD77-0720-1FA0-31BBDB2C7BFB}"/>
              </a:ext>
            </a:extLst>
          </p:cNvPr>
          <p:cNvSpPr>
            <a:spLocks noGrp="1"/>
          </p:cNvSpPr>
          <p:nvPr>
            <p:ph idx="1"/>
          </p:nvPr>
        </p:nvSpPr>
        <p:spPr>
          <a:xfrm>
            <a:off x="677334" y="1582365"/>
            <a:ext cx="9071784" cy="4858776"/>
          </a:xfrm>
        </p:spPr>
        <p:txBody>
          <a:bodyPr>
            <a:normAutofit/>
          </a:bodyPr>
          <a:lstStyle/>
          <a:p>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p>
          <a:p>
            <a:pPr lvl="1">
              <a:buFont typeface="Arial" panose="020B0604020202020204" pitchFamily="34" charset="0"/>
              <a:buChar char="•"/>
            </a:pPr>
            <a:endParaRPr lang="en-US" dirty="0"/>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p>
          <a:p>
            <a:pPr marL="400050" indent="-285750"/>
            <a:endParaRPr lang="en-US" dirty="0"/>
          </a:p>
          <a:p>
            <a:endParaRPr lang="en-US" dirty="0"/>
          </a:p>
        </p:txBody>
      </p:sp>
      <p:pic>
        <p:nvPicPr>
          <p:cNvPr id="4" name="Picture 3">
            <a:extLst>
              <a:ext uri="{FF2B5EF4-FFF2-40B4-BE49-F238E27FC236}">
                <a16:creationId xmlns:a16="http://schemas.microsoft.com/office/drawing/2014/main" id="{0519FBC6-12D4-A0C6-5B35-335E82A128D7}"/>
              </a:ext>
            </a:extLst>
          </p:cNvPr>
          <p:cNvPicPr>
            <a:picLocks noChangeAspect="1"/>
          </p:cNvPicPr>
          <p:nvPr/>
        </p:nvPicPr>
        <p:blipFill>
          <a:blip r:embed="rId2"/>
          <a:stretch>
            <a:fillRect/>
          </a:stretch>
        </p:blipFill>
        <p:spPr>
          <a:xfrm>
            <a:off x="102294" y="0"/>
            <a:ext cx="1902117" cy="1908213"/>
          </a:xfrm>
          <a:prstGeom prst="rect">
            <a:avLst/>
          </a:prstGeom>
        </p:spPr>
      </p:pic>
      <p:sp>
        <p:nvSpPr>
          <p:cNvPr id="8" name="TextBox 7">
            <a:extLst>
              <a:ext uri="{FF2B5EF4-FFF2-40B4-BE49-F238E27FC236}">
                <a16:creationId xmlns:a16="http://schemas.microsoft.com/office/drawing/2014/main" id="{B5ABEA95-A504-A262-73F9-A316B334FCCC}"/>
              </a:ext>
            </a:extLst>
          </p:cNvPr>
          <p:cNvSpPr txBox="1"/>
          <p:nvPr/>
        </p:nvSpPr>
        <p:spPr>
          <a:xfrm>
            <a:off x="5676892" y="1908213"/>
            <a:ext cx="4172150" cy="253537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Backend / AI / Services</a:t>
            </a:r>
            <a:endParaRPr lang="en-US"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Python, </a:t>
            </a:r>
            <a:r>
              <a:rPr lang="en-US" dirty="0" err="1">
                <a:latin typeface="Times New Roman" panose="02020603050405020304" pitchFamily="18" charset="0"/>
                <a:cs typeface="Times New Roman" panose="02020603050405020304" pitchFamily="18" charset="0"/>
              </a:rPr>
              <a:t>Uvicorn</a:t>
            </a:r>
            <a:endParaRPr lang="en-US"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AI &amp; ML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CLIP, NumPy</a:t>
            </a:r>
          </a:p>
          <a:p>
            <a:pPr lvl="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Text / NLP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spaCy</a:t>
            </a:r>
            <a:endParaRPr lang="en-US"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Audio Recognition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ACRCloud</a:t>
            </a:r>
            <a:r>
              <a:rPr lang="en-US" dirty="0">
                <a:latin typeface="Times New Roman" panose="02020603050405020304" pitchFamily="18" charset="0"/>
                <a:cs typeface="Times New Roman" panose="02020603050405020304" pitchFamily="18" charset="0"/>
              </a:rPr>
              <a:t> API</a:t>
            </a:r>
          </a:p>
          <a:p>
            <a:pPr lvl="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Movie Info</a:t>
            </a:r>
            <a:r>
              <a:rPr lang="en-US" dirty="0">
                <a:latin typeface="Times New Roman" panose="02020603050405020304" pitchFamily="18" charset="0"/>
                <a:cs typeface="Times New Roman" panose="02020603050405020304" pitchFamily="18" charset="0"/>
              </a:rPr>
              <a:t>: TMDB API</a:t>
            </a:r>
            <a:endParaRPr lang="en-US" dirty="0"/>
          </a:p>
        </p:txBody>
      </p:sp>
      <p:sp>
        <p:nvSpPr>
          <p:cNvPr id="9" name="TextBox 8">
            <a:extLst>
              <a:ext uri="{FF2B5EF4-FFF2-40B4-BE49-F238E27FC236}">
                <a16:creationId xmlns:a16="http://schemas.microsoft.com/office/drawing/2014/main" id="{D2BAC016-D4CE-1030-79DE-694CAE2FC0A3}"/>
              </a:ext>
            </a:extLst>
          </p:cNvPr>
          <p:cNvSpPr txBox="1"/>
          <p:nvPr/>
        </p:nvSpPr>
        <p:spPr>
          <a:xfrm>
            <a:off x="3272746" y="4677688"/>
            <a:ext cx="4490221" cy="244682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Deployment Platforms</a:t>
            </a:r>
            <a:endParaRPr lang="en-US"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Backend: Render</a:t>
            </a: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Web App: </a:t>
            </a:r>
            <a:r>
              <a:rPr lang="en-US" dirty="0" err="1">
                <a:latin typeface="Times New Roman" panose="02020603050405020304" pitchFamily="18" charset="0"/>
                <a:cs typeface="Times New Roman" panose="02020603050405020304" pitchFamily="18" charset="0"/>
              </a:rPr>
              <a:t>Vercel</a:t>
            </a:r>
            <a:endParaRPr lang="en-US"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Database: MongoDB</a:t>
            </a:r>
          </a:p>
          <a:p>
            <a:pPr lvl="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Android App: Android Studio APK</a:t>
            </a:r>
          </a:p>
          <a:p>
            <a:endParaRPr lang="en-US" dirty="0"/>
          </a:p>
        </p:txBody>
      </p:sp>
      <p:sp>
        <p:nvSpPr>
          <p:cNvPr id="11" name="TextBox 10">
            <a:extLst>
              <a:ext uri="{FF2B5EF4-FFF2-40B4-BE49-F238E27FC236}">
                <a16:creationId xmlns:a16="http://schemas.microsoft.com/office/drawing/2014/main" id="{F736C7C9-544F-E4E4-308D-2454C9C1D151}"/>
              </a:ext>
            </a:extLst>
          </p:cNvPr>
          <p:cNvSpPr txBox="1"/>
          <p:nvPr/>
        </p:nvSpPr>
        <p:spPr>
          <a:xfrm>
            <a:off x="794721" y="1927897"/>
            <a:ext cx="4490222" cy="235449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Frontend</a:t>
            </a:r>
          </a:p>
          <a:p>
            <a:pPr lvl="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Web Application: </a:t>
            </a:r>
            <a:r>
              <a:rPr lang="en-US" dirty="0">
                <a:latin typeface="Times New Roman" panose="02020603050405020304" pitchFamily="18" charset="0"/>
                <a:cs typeface="Times New Roman" panose="02020603050405020304" pitchFamily="18" charset="0"/>
              </a:rPr>
              <a:t>React.js</a:t>
            </a:r>
          </a:p>
          <a:p>
            <a:pPr lvl="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Android Application:</a:t>
            </a:r>
            <a:endParaRPr lang="en-US" dirty="0">
              <a:latin typeface="Times New Roman" panose="02020603050405020304" pitchFamily="18" charset="0"/>
              <a:cs typeface="Times New Roman" panose="02020603050405020304" pitchFamily="18" charset="0"/>
            </a:endParaRPr>
          </a:p>
          <a:p>
            <a:pPr lvl="2">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Android Studio</a:t>
            </a:r>
          </a:p>
          <a:p>
            <a:pPr lvl="2">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WebView (to load the web application)</a:t>
            </a:r>
          </a:p>
          <a:p>
            <a:endParaRPr lang="en-US" dirty="0"/>
          </a:p>
        </p:txBody>
      </p:sp>
    </p:spTree>
    <p:extLst>
      <p:ext uri="{BB962C8B-B14F-4D97-AF65-F5344CB8AC3E}">
        <p14:creationId xmlns:p14="http://schemas.microsoft.com/office/powerpoint/2010/main" val="2058388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B3CC894-9E34-4CD0-CD4C-5C53E873717E}"/>
              </a:ext>
            </a:extLst>
          </p:cNvPr>
          <p:cNvSpPr txBox="1"/>
          <p:nvPr/>
        </p:nvSpPr>
        <p:spPr>
          <a:xfrm>
            <a:off x="174812" y="2326341"/>
            <a:ext cx="9802905" cy="1569660"/>
          </a:xfrm>
          <a:prstGeom prst="rect">
            <a:avLst/>
          </a:prstGeom>
          <a:noFill/>
        </p:spPr>
        <p:txBody>
          <a:bodyPr wrap="square" rtlCol="0">
            <a:spAutoFit/>
          </a:bodyPr>
          <a:lstStyle/>
          <a:p>
            <a:r>
              <a:rPr lang="en-US" sz="3200" dirty="0" err="1">
                <a:latin typeface="Times New Roman" panose="02020603050405020304" pitchFamily="18" charset="0"/>
                <a:cs typeface="Times New Roman" panose="02020603050405020304" pitchFamily="18" charset="0"/>
              </a:rPr>
              <a:t>Github</a:t>
            </a:r>
            <a:r>
              <a:rPr lang="en-US" sz="3200" dirty="0">
                <a:latin typeface="Times New Roman" panose="02020603050405020304" pitchFamily="18" charset="0"/>
                <a:cs typeface="Times New Roman" panose="02020603050405020304" pitchFamily="18" charset="0"/>
              </a:rPr>
              <a:t> Link : </a:t>
            </a:r>
            <a:r>
              <a:rPr lang="en-US" sz="3200" dirty="0">
                <a:latin typeface="Times New Roman" panose="02020603050405020304" pitchFamily="18" charset="0"/>
                <a:cs typeface="Times New Roman" panose="02020603050405020304" pitchFamily="18" charset="0"/>
                <a:hlinkClick r:id="rId2"/>
              </a:rPr>
              <a:t>https://github.com/leelamadhavi0211/Reel2MovieProject-Batch04.git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279438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561</TotalTime>
  <Words>706</Words>
  <Application>Microsoft Office PowerPoint</Application>
  <PresentationFormat>Widescreen</PresentationFormat>
  <Paragraphs>94</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Times New Roman</vt:lpstr>
      <vt:lpstr>Trebuchet MS</vt:lpstr>
      <vt:lpstr>Wingdings</vt:lpstr>
      <vt:lpstr>Wingdings 3</vt:lpstr>
      <vt:lpstr>Facet</vt:lpstr>
      <vt:lpstr>PowerPoint Presentation</vt:lpstr>
      <vt:lpstr>PowerPoint Presentation</vt:lpstr>
      <vt:lpstr>    PROBLEM IDENTIFICATION</vt:lpstr>
      <vt:lpstr>    PROBLEM STATEMENT</vt:lpstr>
      <vt:lpstr>     MODULE DIVISION</vt:lpstr>
      <vt:lpstr>PowerPoint Presentation</vt:lpstr>
      <vt:lpstr>PowerPoint Presentation</vt:lpstr>
      <vt:lpstr>     TECHNICAL STACK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Mailoji Bhargavi Chari</dc:creator>
  <cp:lastModifiedBy>Mailoji Bhargavi Chari</cp:lastModifiedBy>
  <cp:revision>22</cp:revision>
  <dcterms:created xsi:type="dcterms:W3CDTF">2025-12-30T16:17:14Z</dcterms:created>
  <dcterms:modified xsi:type="dcterms:W3CDTF">2026-03-29T10:48:17Z</dcterms:modified>
</cp:coreProperties>
</file>